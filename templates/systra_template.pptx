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  <p:sldMasterId id="2147483661" r:id="rId6"/>
    <p:sldMasterId id="2147483671" r:id="rId7"/>
    <p:sldMasterId id="2147483685" r:id="rId8"/>
    <p:sldMasterId id="2147483688" r:id="rId9"/>
    <p:sldMasterId id="2147483696" r:id="rId10"/>
    <p:sldMasterId id="2147483701" r:id="rId11"/>
  </p:sldMasterIdLst>
  <p:notesMasterIdLst>
    <p:notesMasterId r:id="rId12"/>
  </p:notesMasterIdLst>
  <p:sldIdLst>
    <p:sldId id="256" r:id="rId13"/>
    <p:sldId id="257" r:id="rId14"/>
    <p:sldId id="258" r:id="rId15"/>
  </p:sldIdLst>
  <p:sldSz cy="5143500" cx="9144000"/>
  <p:notesSz cx="6889750" cy="10021875"/>
  <p:embeddedFontLst>
    <p:embeddedFont>
      <p:font typeface="Lato"/>
      <p:regular r:id="rId16"/>
      <p:bold r:id="rId17"/>
      <p:italic r:id="rId18"/>
      <p:boldItalic r:id="rId19"/>
    </p:embeddedFont>
    <p:embeddedFont>
      <p:font typeface="Lato Light"/>
      <p:regular r:id="rId20"/>
      <p:bold r:id="rId21"/>
      <p:italic r:id="rId22"/>
      <p:boldItalic r:id="rId23"/>
    </p:embeddedFont>
    <p:embeddedFont>
      <p:font typeface="Lato Black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UtpvMaJ9Yfewhil62YY6jsRpp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A86659-B62A-4144-99B5-75C40A865BA9}">
  <a:tblStyle styleId="{93A86659-B62A-4144-99B5-75C40A865BA9}" styleName="Table_0">
    <a:wholeTbl>
      <a:tcTxStyle b="off" i="off">
        <a:font>
          <a:latin typeface="Lato"/>
          <a:ea typeface="Lato"/>
          <a:cs typeface="Lato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7E7E7"/>
          </a:solidFill>
        </a:fill>
      </a:tcStyle>
    </a:wholeTbl>
    <a:band1H>
      <a:tcTxStyle/>
      <a:tcStyle>
        <a:fill>
          <a:solidFill>
            <a:srgbClr val="EECBCB"/>
          </a:solidFill>
        </a:fill>
      </a:tcStyle>
    </a:band1H>
    <a:band2H>
      <a:tcTxStyle/>
    </a:band2H>
    <a:band1V>
      <a:tcTxStyle/>
      <a:tcStyle>
        <a:fill>
          <a:solidFill>
            <a:srgbClr val="EECBCB"/>
          </a:solidFill>
        </a:fill>
      </a:tcStyle>
    </a:band1V>
    <a:band2V>
      <a:tcTxStyle/>
    </a:band2V>
    <a:lastCol>
      <a:tcTxStyle b="on" i="off">
        <a:font>
          <a:latin typeface="Lato"/>
          <a:ea typeface="Lato"/>
          <a:cs typeface="Lato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Lato"/>
          <a:ea typeface="Lato"/>
          <a:cs typeface="Lato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regular.fntdata"/><Relationship Id="rId22" Type="http://schemas.openxmlformats.org/officeDocument/2006/relationships/font" Target="fonts/LatoLight-italic.fntdata"/><Relationship Id="rId21" Type="http://schemas.openxmlformats.org/officeDocument/2006/relationships/font" Target="fonts/LatoLight-bold.fntdata"/><Relationship Id="rId24" Type="http://schemas.openxmlformats.org/officeDocument/2006/relationships/font" Target="fonts/LatoBlack-bold.fntdata"/><Relationship Id="rId23" Type="http://schemas.openxmlformats.org/officeDocument/2006/relationships/font" Target="fonts/LatoLight-boldItalic.fntdata"/><Relationship Id="rId1" Type="http://schemas.openxmlformats.org/officeDocument/2006/relationships/theme" Target="theme/theme8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customschemas.google.com/relationships/presentationmetadata" Target="metadata"/><Relationship Id="rId25" Type="http://schemas.openxmlformats.org/officeDocument/2006/relationships/font" Target="fonts/LatoBlack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5558" cy="50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2597" y="0"/>
            <a:ext cx="2985558" cy="50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:notes"/>
          <p:cNvSpPr/>
          <p:nvPr>
            <p:ph idx="2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1:notes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:notes"/>
          <p:cNvSpPr txBox="1"/>
          <p:nvPr>
            <p:ph idx="12" type="sldNum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fr-F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:notes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:notes"/>
          <p:cNvSpPr/>
          <p:nvPr>
            <p:ph idx="2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:notes"/>
          <p:cNvSpPr/>
          <p:nvPr>
            <p:ph idx="2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3:notes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:notes"/>
          <p:cNvSpPr txBox="1"/>
          <p:nvPr>
            <p:ph idx="12" type="sldNum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fr-F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po_Project_Review_slide_1">
  <p:cSld name="2_Ipo_Project_Review_slid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/>
          <p:nvPr/>
        </p:nvSpPr>
        <p:spPr>
          <a:xfrm>
            <a:off x="360000" y="719999"/>
            <a:ext cx="4140000" cy="945495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6;p5"/>
          <p:cNvSpPr txBox="1"/>
          <p:nvPr/>
        </p:nvSpPr>
        <p:spPr>
          <a:xfrm>
            <a:off x="430766" y="580232"/>
            <a:ext cx="2423945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DESCRIPTION &amp; EXPECTED BENEFITS</a:t>
            </a:r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360000" y="3901567"/>
            <a:ext cx="4140000" cy="958433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8;p5"/>
          <p:cNvSpPr txBox="1"/>
          <p:nvPr/>
        </p:nvSpPr>
        <p:spPr>
          <a:xfrm>
            <a:off x="430767" y="3786569"/>
            <a:ext cx="860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NEXT STEPS</a:t>
            </a:r>
            <a:endParaRPr/>
          </a:p>
        </p:txBody>
      </p:sp>
      <p:sp>
        <p:nvSpPr>
          <p:cNvPr id="19" name="Google Shape;19;p5"/>
          <p:cNvSpPr/>
          <p:nvPr/>
        </p:nvSpPr>
        <p:spPr>
          <a:xfrm>
            <a:off x="4680000" y="3213062"/>
            <a:ext cx="4140000" cy="381769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20;p5"/>
          <p:cNvSpPr txBox="1"/>
          <p:nvPr/>
        </p:nvSpPr>
        <p:spPr>
          <a:xfrm>
            <a:off x="4751384" y="3089982"/>
            <a:ext cx="605827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TRENDS</a:t>
            </a:r>
            <a:endParaRPr/>
          </a:p>
        </p:txBody>
      </p:sp>
      <p:sp>
        <p:nvSpPr>
          <p:cNvPr id="21" name="Google Shape;21;p5"/>
          <p:cNvSpPr txBox="1"/>
          <p:nvPr/>
        </p:nvSpPr>
        <p:spPr>
          <a:xfrm>
            <a:off x="4680000" y="3277454"/>
            <a:ext cx="4140150" cy="270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Scope	Schedule	 Budget</a:t>
            </a:r>
            <a:endParaRPr/>
          </a:p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3028708" y="4985133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" name="Google Shape;23;p5"/>
          <p:cNvSpPr/>
          <p:nvPr/>
        </p:nvSpPr>
        <p:spPr>
          <a:xfrm>
            <a:off x="4680000" y="720000"/>
            <a:ext cx="4140000" cy="1178084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4744511" y="627743"/>
            <a:ext cx="828000" cy="215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DECISIONS</a:t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4680000" y="2047855"/>
            <a:ext cx="4140000" cy="1030589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4744511" y="1945133"/>
            <a:ext cx="1107285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RISKS &amp; STATUS</a:t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360000" y="2697197"/>
            <a:ext cx="4140000" cy="1089372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430767" y="2585990"/>
            <a:ext cx="860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PROGRESS</a:t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360000" y="1800000"/>
            <a:ext cx="4140000" cy="77175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430766" y="1675782"/>
            <a:ext cx="160618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SCOPE &amp; MILESTONES</a:t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4680000" y="3733662"/>
            <a:ext cx="4140000" cy="1126338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4744511" y="3618157"/>
            <a:ext cx="82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BUDGET</a:t>
            </a:r>
            <a:endParaRPr/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360000" y="153523"/>
            <a:ext cx="8496150" cy="397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 b="1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">
  <p:cSld name="Texte + message clef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23850" y="929641"/>
            <a:ext cx="8248650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6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" name="Google Shape;38;p6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39" name="Google Shape;39;p6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6" name="Google Shape;46;p6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6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/>
          </a:p>
        </p:txBody>
      </p:sp>
      <p:sp>
        <p:nvSpPr>
          <p:cNvPr id="65" name="Google Shape;65;p6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/>
          </a:p>
        </p:txBody>
      </p:sp>
      <p:cxnSp>
        <p:nvCxnSpPr>
          <p:cNvPr id="66" name="Google Shape;66;p6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6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o_Project_Review_Slide_2">
  <p:cSld name="Ipo_Project_Review_Slide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idx="1" type="body"/>
          </p:nvPr>
        </p:nvSpPr>
        <p:spPr>
          <a:xfrm>
            <a:off x="260340" y="107576"/>
            <a:ext cx="2866237" cy="4521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75" name="Google Shape;75;p7"/>
          <p:cNvGrpSpPr/>
          <p:nvPr/>
        </p:nvGrpSpPr>
        <p:grpSpPr>
          <a:xfrm>
            <a:off x="260490" y="615439"/>
            <a:ext cx="8495999" cy="2919518"/>
            <a:chOff x="310250" y="615439"/>
            <a:chExt cx="8495999" cy="2919518"/>
          </a:xfrm>
        </p:grpSpPr>
        <p:sp>
          <p:nvSpPr>
            <p:cNvPr id="76" name="Google Shape;76;p7"/>
            <p:cNvSpPr/>
            <p:nvPr/>
          </p:nvSpPr>
          <p:spPr>
            <a:xfrm>
              <a:off x="310250" y="728499"/>
              <a:ext cx="8495999" cy="2806458"/>
            </a:xfrm>
            <a:prstGeom prst="rect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1430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1430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7" name="Google Shape;77;p7"/>
            <p:cNvSpPr txBox="1"/>
            <p:nvPr/>
          </p:nvSpPr>
          <p:spPr>
            <a:xfrm>
              <a:off x="361626" y="615439"/>
              <a:ext cx="765906" cy="2342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050" cap="none">
                  <a:solidFill>
                    <a:srgbClr val="003D4B"/>
                  </a:solidFill>
                  <a:latin typeface="Lato"/>
                  <a:ea typeface="Lato"/>
                  <a:cs typeface="Lato"/>
                  <a:sym typeface="Lato"/>
                </a:rPr>
                <a:t>PLANNING</a:t>
              </a:r>
              <a:endParaRPr/>
            </a:p>
          </p:txBody>
        </p:sp>
      </p:grpSp>
      <p:sp>
        <p:nvSpPr>
          <p:cNvPr id="78" name="Google Shape;78;p7"/>
          <p:cNvSpPr txBox="1"/>
          <p:nvPr>
            <p:ph idx="11" type="ftr"/>
          </p:nvPr>
        </p:nvSpPr>
        <p:spPr>
          <a:xfrm>
            <a:off x="3028708" y="4985133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79" name="Google Shape;79;p7"/>
          <p:cNvGrpSpPr/>
          <p:nvPr/>
        </p:nvGrpSpPr>
        <p:grpSpPr>
          <a:xfrm>
            <a:off x="260340" y="3590493"/>
            <a:ext cx="8495998" cy="1263337"/>
            <a:chOff x="310100" y="3590493"/>
            <a:chExt cx="8495998" cy="1263337"/>
          </a:xfrm>
        </p:grpSpPr>
        <p:sp>
          <p:nvSpPr>
            <p:cNvPr id="80" name="Google Shape;80;p7"/>
            <p:cNvSpPr/>
            <p:nvPr/>
          </p:nvSpPr>
          <p:spPr>
            <a:xfrm>
              <a:off x="310100" y="3714243"/>
              <a:ext cx="8495998" cy="1139587"/>
            </a:xfrm>
            <a:prstGeom prst="rect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0849" lvl="0" marL="108000" marR="0" rtl="0" algn="l">
                <a:spcBef>
                  <a:spcPts val="0"/>
                </a:spcBef>
                <a:spcAft>
                  <a:spcPts val="0"/>
                </a:spcAft>
                <a:buClr>
                  <a:srgbClr val="D32427"/>
                </a:buClr>
                <a:buSzPts val="900"/>
                <a:buFont typeface="Noto Sans Symbol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1430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368500" y="3590493"/>
              <a:ext cx="1962189" cy="2342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050" cap="none">
                  <a:solidFill>
                    <a:srgbClr val="003D4B"/>
                  </a:solidFill>
                  <a:latin typeface="Lato"/>
                  <a:ea typeface="Lato"/>
                  <a:cs typeface="Lato"/>
                  <a:sym typeface="Lato"/>
                </a:rPr>
                <a:t>TEAM WORKLOAD IN M/D 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">
  <p:cSld name="Text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" type="body"/>
          </p:nvPr>
        </p:nvSpPr>
        <p:spPr>
          <a:xfrm>
            <a:off x="323850" y="929641"/>
            <a:ext cx="8496300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s">
  <p:cSld name="2 Texte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2" type="body"/>
          </p:nvPr>
        </p:nvSpPr>
        <p:spPr>
          <a:xfrm>
            <a:off x="323850" y="937075"/>
            <a:ext cx="4173809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3" type="body"/>
          </p:nvPr>
        </p:nvSpPr>
        <p:spPr>
          <a:xfrm>
            <a:off x="4646342" y="937075"/>
            <a:ext cx="4177988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soustitre">
  <p:cSld name="Texte + soustitr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3" type="body"/>
          </p:nvPr>
        </p:nvSpPr>
        <p:spPr>
          <a:xfrm>
            <a:off x="323850" y="1554479"/>
            <a:ext cx="8488363" cy="31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5" name="Google Shape;95;p10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96" name="Google Shape;96;p10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3" name="Google Shape;103;p10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/>
          </a:p>
        </p:txBody>
      </p:sp>
      <p:sp>
        <p:nvSpPr>
          <p:cNvPr id="122" name="Google Shape;122;p10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/>
          </a:p>
        </p:txBody>
      </p:sp>
      <p:cxnSp>
        <p:nvCxnSpPr>
          <p:cNvPr id="123" name="Google Shape;123;p10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0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_Card">
  <p:cSld name="Project_Card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323850" y="99840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11"/>
          <p:cNvSpPr txBox="1"/>
          <p:nvPr>
            <p:ph idx="2" type="body"/>
          </p:nvPr>
        </p:nvSpPr>
        <p:spPr>
          <a:xfrm>
            <a:off x="323850" y="71958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FAEB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3" name="Google Shape;133;p11"/>
          <p:cNvSpPr/>
          <p:nvPr/>
        </p:nvSpPr>
        <p:spPr>
          <a:xfrm>
            <a:off x="252000" y="1143000"/>
            <a:ext cx="2808000" cy="3753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 cap="non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203667" y="1143000"/>
            <a:ext cx="2808000" cy="3753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323850" y="1025664"/>
            <a:ext cx="180015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STAKES AND OBJECTIVES</a:t>
            </a:r>
            <a:endParaRPr b="1" sz="1000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3256951" y="1025664"/>
            <a:ext cx="136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IMPLEMENTATION</a:t>
            </a:r>
            <a:endParaRPr b="1" sz="1000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156000" y="1143000"/>
            <a:ext cx="2808000" cy="3761868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1"/>
          <p:cNvSpPr txBox="1"/>
          <p:nvPr/>
        </p:nvSpPr>
        <p:spPr>
          <a:xfrm>
            <a:off x="6227668" y="1025664"/>
            <a:ext cx="136800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COSTS &amp; IMPACTS</a:t>
            </a:r>
            <a:endParaRPr b="1" sz="1000" cap="non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11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po_Project_Review_slide_1">
  <p:cSld name="1_Ipo_Project_Review_slide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" type="body"/>
          </p:nvPr>
        </p:nvSpPr>
        <p:spPr>
          <a:xfrm>
            <a:off x="323850" y="93826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" name="Google Shape;142;p12"/>
          <p:cNvSpPr/>
          <p:nvPr/>
        </p:nvSpPr>
        <p:spPr>
          <a:xfrm>
            <a:off x="324000" y="797250"/>
            <a:ext cx="4175851" cy="708927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396000" y="677314"/>
            <a:ext cx="1692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PROJECT DESCRIPTION</a:t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4643999" y="792839"/>
            <a:ext cx="4175999" cy="815486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4716000" y="671298"/>
            <a:ext cx="65592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TRENDS</a:t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323850" y="3972310"/>
            <a:ext cx="4176000" cy="93600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396000" y="3858008"/>
            <a:ext cx="860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NEXT STEPS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4687595" y="867766"/>
            <a:ext cx="162543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Scope</a:t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4680000" y="1088660"/>
            <a:ext cx="89573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Schedule</a:t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4687595" y="1311867"/>
            <a:ext cx="89573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Budget</a:t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4644000" y="1787297"/>
            <a:ext cx="4175999" cy="2047891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4716000" y="1673378"/>
            <a:ext cx="877006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PLANNING</a:t>
            </a:r>
            <a:endParaRPr/>
          </a:p>
        </p:txBody>
      </p:sp>
      <p:sp>
        <p:nvSpPr>
          <p:cNvPr id="153" name="Google Shape;153;p12"/>
          <p:cNvSpPr txBox="1"/>
          <p:nvPr>
            <p:ph idx="11" type="ftr"/>
          </p:nvPr>
        </p:nvSpPr>
        <p:spPr>
          <a:xfrm>
            <a:off x="3028708" y="4985133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" name="Google Shape;154;p12"/>
          <p:cNvSpPr/>
          <p:nvPr/>
        </p:nvSpPr>
        <p:spPr>
          <a:xfrm>
            <a:off x="323256" y="2820030"/>
            <a:ext cx="4176000" cy="1015159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396000" y="2705538"/>
            <a:ext cx="82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DECISIONS</a:t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323256" y="1643298"/>
            <a:ext cx="4176000" cy="106243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396000" y="1528994"/>
            <a:ext cx="824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PROGRESS</a:t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4643999" y="3972310"/>
            <a:ext cx="4176000" cy="93600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4716000" y="3858009"/>
            <a:ext cx="459278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RISKS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 + soustitre">
  <p:cSld name="Texte + message clef + soustitr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3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3" type="body"/>
          </p:nvPr>
        </p:nvSpPr>
        <p:spPr>
          <a:xfrm>
            <a:off x="323850" y="1275324"/>
            <a:ext cx="8248650" cy="344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">
  <p:cSld name="Chapitre image ver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4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9" name="Google Shape;169;p14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173" name="Google Shape;173;p14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5" name="Google Shape;175;p14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4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nnes pratiques">
  <p:cSld name="Bonnes pratique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4" name="Google Shape;184;p16"/>
          <p:cNvSpPr txBox="1"/>
          <p:nvPr/>
        </p:nvSpPr>
        <p:spPr>
          <a:xfrm>
            <a:off x="323850" y="1385966"/>
            <a:ext cx="5226345" cy="96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fr-FR"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Retrouvez ici de nombreux modèles de couvertures, de chapitres et de disposition de textes avec images, graphiques ou tableaux pour répondre à vos différents besoins.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323850" y="1092167"/>
            <a:ext cx="8191500" cy="373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/>
            </a:pP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Penser à utiliser le menu « Nouvelle diapositive » :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323850" y="2006282"/>
            <a:ext cx="6190364" cy="2793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Utiliser des chapitres de couleur différente pour donner 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du rythme à votre présentation 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endParaRPr b="1" sz="1200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Modifier le nom de la présentation dans le bas de page en allant dans le menu Insertion, puis en cliquant sur « En-tête/Pied »</a:t>
            </a:r>
            <a:endParaRPr/>
          </a:p>
          <a:p>
            <a:pPr indent="-266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 Black"/>
              <a:buNone/>
            </a:pPr>
            <a:r>
              <a:t/>
            </a:r>
            <a:endParaRPr b="1" sz="1200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Télécharger des images au format .jpg inférieure à 1Mo 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pour optimiser le poids du fichier final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endParaRPr b="1" sz="1200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Co-construire votre présentation grâce à un fichier partagé 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depuis OneDrive ou Teams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endParaRPr b="1" sz="1200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Si vous devez imprimer votre présentation, privilégiez les chapitres </a:t>
            </a:r>
            <a:b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lang="fr-FR" sz="12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sans illustration et la diapositive de fin sur fond blanc</a:t>
            </a:r>
            <a:endParaRPr/>
          </a:p>
        </p:txBody>
      </p:sp>
      <p:pic>
        <p:nvPicPr>
          <p:cNvPr id="187" name="Google Shape;187;p16"/>
          <p:cNvPicPr preferRelativeResize="0"/>
          <p:nvPr/>
        </p:nvPicPr>
        <p:blipFill rotWithShape="1">
          <a:blip r:embed="rId2">
            <a:alphaModFix/>
          </a:blip>
          <a:srcRect b="0" l="0" r="54714" t="0"/>
          <a:stretch/>
        </p:blipFill>
        <p:spPr>
          <a:xfrm>
            <a:off x="6536553" y="1311841"/>
            <a:ext cx="1367834" cy="55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21234"/>
          <a:stretch/>
        </p:blipFill>
        <p:spPr>
          <a:xfrm>
            <a:off x="6536553" y="1864827"/>
            <a:ext cx="2291277" cy="22007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6863509" y="1399854"/>
            <a:ext cx="132202" cy="21267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7206740" y="998112"/>
            <a:ext cx="960519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Cliquez ici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 rot="-4653001">
            <a:off x="6913394" y="1169347"/>
            <a:ext cx="519443" cy="51944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violet">
  <p:cSld name="Couverture viole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18"/>
          <p:cNvSpPr/>
          <p:nvPr/>
        </p:nvSpPr>
        <p:spPr>
          <a:xfrm>
            <a:off x="559198" y="479575"/>
            <a:ext cx="3624146" cy="41843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8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01" name="Google Shape;20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bleu">
  <p:cSld name="Couverture bleu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19"/>
          <p:cNvSpPr/>
          <p:nvPr/>
        </p:nvSpPr>
        <p:spPr>
          <a:xfrm>
            <a:off x="559198" y="479576"/>
            <a:ext cx="3624146" cy="41965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19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" name="Google Shape;206;p19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l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19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l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l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 vert clair">
  <p:cSld name="Couvertur vert clai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0"/>
          <p:cNvSpPr/>
          <p:nvPr/>
        </p:nvSpPr>
        <p:spPr>
          <a:xfrm>
            <a:off x="559198" y="479576"/>
            <a:ext cx="3624146" cy="41965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5" name="Google Shape;215;p20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" name="Google Shape;216;p20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7" name="Google Shape;217;p20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20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19" name="Google Shape;2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bleu clair">
  <p:cSld name="Couverture bleu clai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21"/>
          <p:cNvSpPr/>
          <p:nvPr/>
        </p:nvSpPr>
        <p:spPr>
          <a:xfrm>
            <a:off x="559198" y="479576"/>
            <a:ext cx="3624146" cy="41843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28" name="Google Shape;22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orange">
  <p:cSld name="Couverture orang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2"/>
          <p:cNvSpPr/>
          <p:nvPr/>
        </p:nvSpPr>
        <p:spPr>
          <a:xfrm>
            <a:off x="559198" y="479576"/>
            <a:ext cx="3624146" cy="4196540"/>
          </a:xfrm>
          <a:prstGeom prst="rect">
            <a:avLst/>
          </a:prstGeom>
          <a:solidFill>
            <a:srgbClr val="F58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rgbClr val="F58027">
              <a:alpha val="5686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rgbClr val="F58027">
              <a:alpha val="5686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rgbClr val="F58027">
              <a:alpha val="5686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6" name="Google Shape;236;p22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vert clair &amp; rouge">
  <p:cSld name="Couverture vert clair &amp; rouge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559198" y="1823049"/>
            <a:ext cx="3624146" cy="2853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3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3"/>
          <p:cNvSpPr/>
          <p:nvPr/>
        </p:nvSpPr>
        <p:spPr>
          <a:xfrm>
            <a:off x="559198" y="479577"/>
            <a:ext cx="3624146" cy="1407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3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3" name="Google Shape;243;p23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4">
              <a:alpha val="6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23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4">
              <a:alpha val="6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6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23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47" name="Google Shape;24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bleu &amp; rouge">
  <p:cSld name="Couverture bleu &amp; roug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24"/>
          <p:cNvSpPr/>
          <p:nvPr/>
        </p:nvSpPr>
        <p:spPr>
          <a:xfrm>
            <a:off x="559198" y="1823049"/>
            <a:ext cx="3624146" cy="2853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59198" y="479576"/>
            <a:ext cx="3624146" cy="1407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4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0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 image chapter">
  <p:cSld name="Light blue image chapter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25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267" name="Google Shape;267;p25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9" name="Google Shape;269;p25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25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soustitre">
  <p:cSld name="Texte + soustitre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idx="1" type="body"/>
          </p:nvPr>
        </p:nvSpPr>
        <p:spPr>
          <a:xfrm>
            <a:off x="323850" y="268289"/>
            <a:ext cx="4248150" cy="282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3" name="Google Shape;273;p26"/>
          <p:cNvSpPr txBox="1"/>
          <p:nvPr>
            <p:ph idx="2" type="body"/>
          </p:nvPr>
        </p:nvSpPr>
        <p:spPr>
          <a:xfrm>
            <a:off x="323849" y="586177"/>
            <a:ext cx="42481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3" type="body"/>
          </p:nvPr>
        </p:nvSpPr>
        <p:spPr>
          <a:xfrm>
            <a:off x="323850" y="1554479"/>
            <a:ext cx="8488363" cy="31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" name="Google Shape;276;p26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7" name="Google Shape;277;p26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278" name="Google Shape;278;p26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85" name="Google Shape;285;p26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/>
          </a:p>
        </p:txBody>
      </p:sp>
      <p:cxnSp>
        <p:nvCxnSpPr>
          <p:cNvPr id="305" name="Google Shape;305;p26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26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iolet">
  <p:cSld name="Chapitre image viole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28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8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8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8" name="Google Shape;318;p28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22" name="Google Shape;322;p28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4" name="Google Shape;324;p28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28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bleu clair">
  <p:cSld name="Chapitre image bleu clair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9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35" name="Google Shape;335;p29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6" name="Google Shape;336;p29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7" name="Google Shape;337;p29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29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orange">
  <p:cSld name="Chapitre image oran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30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3" name="Google Shape;343;p30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4" name="Google Shape;344;p30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48" name="Google Shape;348;p30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0" name="Google Shape;350;p30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30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">
  <p:cSld name="Chapitre image ver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1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6" name="Google Shape;356;p31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7" name="Google Shape;357;p31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61" name="Google Shape;361;p31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2" name="Google Shape;362;p31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3" name="Google Shape;363;p31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31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 clair">
  <p:cSld name="Chapitre image vert clair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32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8" name="Google Shape;368;p32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9" name="Google Shape;369;p32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0" name="Google Shape;370;p32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74" name="Google Shape;374;p32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5" name="Google Shape;375;p32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6" name="Google Shape;376;p32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32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rouge">
  <p:cSld name="Chapitre image roug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33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1" name="Google Shape;381;p33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2" name="Google Shape;382;p33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3" name="Google Shape;383;p33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33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87" name="Google Shape;387;p33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8" name="Google Shape;388;p33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9" name="Google Shape;389;p33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33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violet">
  <p:cSld name="Chapitre viole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3" name="Google Shape;393;p34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4" name="Google Shape;394;p34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5" name="Google Shape;395;p34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399" name="Google Shape;399;p34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3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0" name="Google Shape;400;p34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1" name="Google Shape;401;p34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34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bleu clair">
  <p:cSld name="Chapitre bleu clai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5" name="Google Shape;405;p35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6" name="Google Shape;406;p35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7" name="Google Shape;407;p35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6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2" name="Google Shape;412;p35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3" name="Google Shape;413;p35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35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orange">
  <p:cSld name="Chapitre oran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7" name="Google Shape;417;p36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8" name="Google Shape;418;p36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9" name="Google Shape;419;p36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" name="Google Shape;422;p36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423" name="Google Shape;423;p36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5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4" name="Google Shape;424;p36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36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vert">
  <p:cSld name="Chapitre ver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1" name="Google Shape;431;p37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435" name="Google Shape;435;p37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7" name="Google Shape;437;p37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37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vert clair">
  <p:cSld name="Chapitre vert clair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1" name="Google Shape;441;p38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2" name="Google Shape;442;p38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3" name="Google Shape;443;p38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447" name="Google Shape;447;p38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4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8" name="Google Shape;448;p38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9" name="Google Shape;449;p38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38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rouge">
  <p:cSld name="Chapitre rouge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3" name="Google Shape;453;p39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4" name="Google Shape;454;p39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5" name="Google Shape;455;p39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459" name="Google Shape;459;p39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0" name="Google Shape;460;p39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1" name="Google Shape;461;p39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39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t">
  <p:cSld name="Projet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5" name="Google Shape;465;p40"/>
          <p:cNvSpPr txBox="1"/>
          <p:nvPr>
            <p:ph idx="2" type="body"/>
          </p:nvPr>
        </p:nvSpPr>
        <p:spPr>
          <a:xfrm>
            <a:off x="323850" y="845917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FAEB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6" name="Google Shape;466;p40"/>
          <p:cNvSpPr/>
          <p:nvPr/>
        </p:nvSpPr>
        <p:spPr>
          <a:xfrm>
            <a:off x="252000" y="1302678"/>
            <a:ext cx="2808000" cy="3600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40"/>
          <p:cNvSpPr/>
          <p:nvPr/>
        </p:nvSpPr>
        <p:spPr>
          <a:xfrm>
            <a:off x="3203667" y="1302678"/>
            <a:ext cx="2808000" cy="3600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40"/>
          <p:cNvSpPr txBox="1"/>
          <p:nvPr/>
        </p:nvSpPr>
        <p:spPr>
          <a:xfrm>
            <a:off x="323850" y="1152000"/>
            <a:ext cx="625413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endParaRPr b="1" sz="1000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9" name="Google Shape;469;p40"/>
          <p:cNvSpPr txBox="1"/>
          <p:nvPr/>
        </p:nvSpPr>
        <p:spPr>
          <a:xfrm>
            <a:off x="3276000" y="1152000"/>
            <a:ext cx="1273172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MISE EN OEUVRE</a:t>
            </a:r>
            <a:endParaRPr b="1" sz="1000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6138237" y="1311546"/>
            <a:ext cx="2808000" cy="3600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40"/>
          <p:cNvSpPr txBox="1"/>
          <p:nvPr/>
        </p:nvSpPr>
        <p:spPr>
          <a:xfrm>
            <a:off x="6227668" y="1152000"/>
            <a:ext cx="143778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COÛTS ET IMPACTS </a:t>
            </a:r>
            <a:endParaRPr b="1" sz="1000" cap="non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"/>
          <p:cNvSpPr txBox="1"/>
          <p:nvPr>
            <p:ph idx="1" type="body"/>
          </p:nvPr>
        </p:nvSpPr>
        <p:spPr>
          <a:xfrm>
            <a:off x="323850" y="938213"/>
            <a:ext cx="8496300" cy="376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 Black"/>
              <a:buAutoNum type="arabicPeriod"/>
              <a:defRPr b="1" i="0" sz="16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2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rouge">
  <p:cSld name="Chapitre rou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3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3" name="Google Shape;483;p43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4" name="Google Shape;484;p43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5" name="Google Shape;485;p43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43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489" name="Google Shape;489;p43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1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1" name="Google Shape;491;p43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43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">
  <p:cSld name="Texte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5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0" name="Google Shape;500;p45"/>
          <p:cNvSpPr txBox="1"/>
          <p:nvPr>
            <p:ph idx="2" type="body"/>
          </p:nvPr>
        </p:nvSpPr>
        <p:spPr>
          <a:xfrm>
            <a:off x="323850" y="929641"/>
            <a:ext cx="8496300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1" name="Google Shape;501;p45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s">
  <p:cSld name="2 Textes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4" name="Google Shape;504;p46"/>
          <p:cNvSpPr txBox="1"/>
          <p:nvPr>
            <p:ph idx="2" type="body"/>
          </p:nvPr>
        </p:nvSpPr>
        <p:spPr>
          <a:xfrm>
            <a:off x="323850" y="937075"/>
            <a:ext cx="4173809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5" name="Google Shape;505;p46"/>
          <p:cNvSpPr txBox="1"/>
          <p:nvPr>
            <p:ph idx="3" type="body"/>
          </p:nvPr>
        </p:nvSpPr>
        <p:spPr>
          <a:xfrm>
            <a:off x="4646342" y="937075"/>
            <a:ext cx="4177988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soustitre">
  <p:cSld name="Texte + soustitr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8" name="Google Shape;508;p47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9" name="Google Shape;509;p47"/>
          <p:cNvSpPr txBox="1"/>
          <p:nvPr>
            <p:ph idx="3" type="body"/>
          </p:nvPr>
        </p:nvSpPr>
        <p:spPr>
          <a:xfrm>
            <a:off x="323850" y="1554479"/>
            <a:ext cx="8488363" cy="31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10" name="Google Shape;510;p47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11" name="Google Shape;511;p47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512" name="Google Shape;512;p47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7" name="Google Shape;517;p47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8" name="Google Shape;518;p47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19" name="Google Shape;519;p47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" name="Google Shape;521;p47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" name="Google Shape;522;p47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3" name="Google Shape;523;p47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" name="Google Shape;524;p47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5" name="Google Shape;525;p47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" name="Google Shape;526;p47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" name="Google Shape;527;p47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47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47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" name="Google Shape;537;p47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/>
          </a:p>
        </p:txBody>
      </p:sp>
      <p:sp>
        <p:nvSpPr>
          <p:cNvPr id="538" name="Google Shape;538;p47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/>
          </a:p>
        </p:txBody>
      </p:sp>
      <p:cxnSp>
        <p:nvCxnSpPr>
          <p:cNvPr id="539" name="Google Shape;539;p47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0" name="Google Shape;540;p47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" name="Google Shape;543;p47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" name="Google Shape;544;p47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_Card">
  <p:cSld name="Project_Card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8"/>
          <p:cNvSpPr txBox="1"/>
          <p:nvPr>
            <p:ph idx="1" type="body"/>
          </p:nvPr>
        </p:nvSpPr>
        <p:spPr>
          <a:xfrm>
            <a:off x="323850" y="99840"/>
            <a:ext cx="8496300" cy="4425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8" name="Google Shape;548;p48"/>
          <p:cNvSpPr txBox="1"/>
          <p:nvPr>
            <p:ph idx="2" type="body"/>
          </p:nvPr>
        </p:nvSpPr>
        <p:spPr>
          <a:xfrm>
            <a:off x="323850" y="597663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FAEB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9" name="Google Shape;549;p48"/>
          <p:cNvSpPr/>
          <p:nvPr/>
        </p:nvSpPr>
        <p:spPr>
          <a:xfrm>
            <a:off x="252000" y="1022773"/>
            <a:ext cx="2808000" cy="3873227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 cap="non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" name="Google Shape;550;p48"/>
          <p:cNvSpPr/>
          <p:nvPr/>
        </p:nvSpPr>
        <p:spPr>
          <a:xfrm>
            <a:off x="3203667" y="1022773"/>
            <a:ext cx="2808000" cy="3873227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1" name="Google Shape;551;p48"/>
          <p:cNvSpPr txBox="1"/>
          <p:nvPr/>
        </p:nvSpPr>
        <p:spPr>
          <a:xfrm>
            <a:off x="323850" y="903750"/>
            <a:ext cx="180015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STAKES AND OBJECTIVES</a:t>
            </a:r>
            <a:endParaRPr b="1" sz="1000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" name="Google Shape;552;p48"/>
          <p:cNvSpPr txBox="1"/>
          <p:nvPr/>
        </p:nvSpPr>
        <p:spPr>
          <a:xfrm>
            <a:off x="3256951" y="903750"/>
            <a:ext cx="136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IMPLEMENTATION</a:t>
            </a:r>
            <a:endParaRPr b="1" sz="1000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" name="Google Shape;553;p48"/>
          <p:cNvSpPr/>
          <p:nvPr/>
        </p:nvSpPr>
        <p:spPr>
          <a:xfrm>
            <a:off x="6156000" y="1022773"/>
            <a:ext cx="2808000" cy="3882095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4" name="Google Shape;554;p48"/>
          <p:cNvSpPr txBox="1"/>
          <p:nvPr/>
        </p:nvSpPr>
        <p:spPr>
          <a:xfrm>
            <a:off x="6227668" y="903750"/>
            <a:ext cx="136800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50" cap="non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COSTS &amp; IMPACTS</a:t>
            </a:r>
            <a:endParaRPr b="1" sz="1000" cap="non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48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">
  <p:cSld name="Texte + message clef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9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8" name="Google Shape;558;p49"/>
          <p:cNvSpPr txBox="1"/>
          <p:nvPr>
            <p:ph idx="2" type="body"/>
          </p:nvPr>
        </p:nvSpPr>
        <p:spPr>
          <a:xfrm>
            <a:off x="323850" y="929641"/>
            <a:ext cx="8248650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9" name="Google Shape;559;p49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60" name="Google Shape;560;p49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561" name="Google Shape;561;p49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4" name="Google Shape;564;p49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5" name="Google Shape;565;p49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8" name="Google Shape;568;p49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49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" name="Google Shape;571;p49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49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49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5" name="Google Shape;575;p49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" name="Google Shape;578;p49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" name="Google Shape;585;p49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6" name="Google Shape;586;p49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/>
          </a:p>
        </p:txBody>
      </p:sp>
      <p:sp>
        <p:nvSpPr>
          <p:cNvPr id="587" name="Google Shape;587;p49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/>
          </a:p>
        </p:txBody>
      </p:sp>
      <p:cxnSp>
        <p:nvCxnSpPr>
          <p:cNvPr id="588" name="Google Shape;588;p49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49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" name="Google Shape;590;p49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49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p49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3" name="Google Shape;593;p49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" name="Google Shape;594;p49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 + soustitre">
  <p:cSld name="Texte + message clef + soustitr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97" name="Google Shape;597;p50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98" name="Google Shape;598;p50"/>
          <p:cNvSpPr txBox="1"/>
          <p:nvPr>
            <p:ph idx="3" type="body"/>
          </p:nvPr>
        </p:nvSpPr>
        <p:spPr>
          <a:xfrm>
            <a:off x="323850" y="1275324"/>
            <a:ext cx="8248650" cy="344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">
  <p:cSld name="Chapitre image vert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2" name="Google Shape;602;p51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3" name="Google Shape;603;p51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4" name="Google Shape;604;p51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5" name="Google Shape;605;p51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" name="Google Shape;606;p51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" name="Google Shape;607;p51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/>
          </a:p>
        </p:txBody>
      </p:sp>
      <p:sp>
        <p:nvSpPr>
          <p:cNvPr id="608" name="Google Shape;608;p51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9" name="Google Shape;609;p51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0" name="Google Shape;610;p51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51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et image">
  <p:cSld name="Texte et image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"/>
          <p:cNvSpPr/>
          <p:nvPr>
            <p:ph idx="2" type="pic"/>
          </p:nvPr>
        </p:nvSpPr>
        <p:spPr>
          <a:xfrm>
            <a:off x="323851" y="2751138"/>
            <a:ext cx="8488376" cy="1952625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19" name="Google Shape;619;p53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0" name="Google Shape;620;p53"/>
          <p:cNvSpPr txBox="1"/>
          <p:nvPr>
            <p:ph idx="3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et 2 images">
  <p:cSld name="Texte et 2 images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4"/>
          <p:cNvSpPr/>
          <p:nvPr>
            <p:ph idx="2" type="pic"/>
          </p:nvPr>
        </p:nvSpPr>
        <p:spPr>
          <a:xfrm>
            <a:off x="332088" y="2751137"/>
            <a:ext cx="4131911" cy="1952625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23" name="Google Shape;623;p54"/>
          <p:cNvSpPr/>
          <p:nvPr>
            <p:ph idx="3" type="pic"/>
          </p:nvPr>
        </p:nvSpPr>
        <p:spPr>
          <a:xfrm>
            <a:off x="4688239" y="2751137"/>
            <a:ext cx="4131911" cy="1952625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24" name="Google Shape;624;p54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5" name="Google Shape;625;p54"/>
          <p:cNvSpPr txBox="1"/>
          <p:nvPr>
            <p:ph idx="4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image">
  <p:cSld name="1 image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/>
          <p:nvPr>
            <p:ph idx="2" type="pic"/>
          </p:nvPr>
        </p:nvSpPr>
        <p:spPr>
          <a:xfrm>
            <a:off x="323850" y="915988"/>
            <a:ext cx="8496299" cy="3787775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28" name="Google Shape;628;p55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blocs Image - texte">
  <p:cSld name="6 blocs Image - texte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/>
          <p:nvPr/>
        </p:nvSpPr>
        <p:spPr>
          <a:xfrm>
            <a:off x="328742" y="2140114"/>
            <a:ext cx="2044228" cy="457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3550823" y="2140114"/>
            <a:ext cx="2044228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56"/>
          <p:cNvSpPr/>
          <p:nvPr/>
        </p:nvSpPr>
        <p:spPr>
          <a:xfrm>
            <a:off x="6768016" y="2140114"/>
            <a:ext cx="2044228" cy="457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56"/>
          <p:cNvSpPr/>
          <p:nvPr>
            <p:ph idx="2" type="pic"/>
          </p:nvPr>
        </p:nvSpPr>
        <p:spPr>
          <a:xfrm>
            <a:off x="328170" y="940593"/>
            <a:ext cx="2044800" cy="1206000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34" name="Google Shape;634;p56"/>
          <p:cNvSpPr/>
          <p:nvPr>
            <p:ph idx="3" type="pic"/>
          </p:nvPr>
        </p:nvSpPr>
        <p:spPr>
          <a:xfrm>
            <a:off x="3550537" y="940593"/>
            <a:ext cx="2044800" cy="1206000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35" name="Google Shape;635;p56"/>
          <p:cNvSpPr/>
          <p:nvPr>
            <p:ph idx="4" type="pic"/>
          </p:nvPr>
        </p:nvSpPr>
        <p:spPr>
          <a:xfrm>
            <a:off x="6767730" y="940593"/>
            <a:ext cx="2044800" cy="1206000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36" name="Google Shape;636;p56"/>
          <p:cNvSpPr txBox="1"/>
          <p:nvPr>
            <p:ph idx="1" type="body"/>
          </p:nvPr>
        </p:nvSpPr>
        <p:spPr>
          <a:xfrm>
            <a:off x="411433" y="2301332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7" name="Google Shape;637;p56"/>
          <p:cNvSpPr txBox="1"/>
          <p:nvPr>
            <p:ph idx="5" type="body"/>
          </p:nvPr>
        </p:nvSpPr>
        <p:spPr>
          <a:xfrm>
            <a:off x="3633935" y="2301332"/>
            <a:ext cx="18780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8" name="Google Shape;638;p56"/>
          <p:cNvSpPr/>
          <p:nvPr/>
        </p:nvSpPr>
        <p:spPr>
          <a:xfrm>
            <a:off x="328742" y="4345818"/>
            <a:ext cx="2044228" cy="485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56"/>
          <p:cNvSpPr/>
          <p:nvPr>
            <p:ph idx="6" type="pic"/>
          </p:nvPr>
        </p:nvSpPr>
        <p:spPr>
          <a:xfrm>
            <a:off x="328170" y="3139817"/>
            <a:ext cx="2044800" cy="1206000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40" name="Google Shape;640;p56"/>
          <p:cNvSpPr txBox="1"/>
          <p:nvPr>
            <p:ph idx="7" type="body"/>
          </p:nvPr>
        </p:nvSpPr>
        <p:spPr>
          <a:xfrm>
            <a:off x="411433" y="4502937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1" name="Google Shape;641;p56"/>
          <p:cNvSpPr/>
          <p:nvPr/>
        </p:nvSpPr>
        <p:spPr>
          <a:xfrm>
            <a:off x="3550823" y="4345818"/>
            <a:ext cx="2044228" cy="485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2" name="Google Shape;642;p56"/>
          <p:cNvSpPr/>
          <p:nvPr>
            <p:ph idx="8" type="pic"/>
          </p:nvPr>
        </p:nvSpPr>
        <p:spPr>
          <a:xfrm>
            <a:off x="3550537" y="3139817"/>
            <a:ext cx="2044800" cy="1206000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43" name="Google Shape;643;p56"/>
          <p:cNvSpPr/>
          <p:nvPr/>
        </p:nvSpPr>
        <p:spPr>
          <a:xfrm>
            <a:off x="6768016" y="4345818"/>
            <a:ext cx="2044228" cy="485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4" name="Google Shape;644;p56"/>
          <p:cNvSpPr/>
          <p:nvPr>
            <p:ph idx="9" type="pic"/>
          </p:nvPr>
        </p:nvSpPr>
        <p:spPr>
          <a:xfrm>
            <a:off x="6767730" y="3139817"/>
            <a:ext cx="2044800" cy="1206000"/>
          </a:xfrm>
          <a:prstGeom prst="rect">
            <a:avLst/>
          </a:prstGeom>
          <a:solidFill>
            <a:schemeClr val="accent2">
              <a:alpha val="71764"/>
            </a:schemeClr>
          </a:solidFill>
          <a:ln>
            <a:noFill/>
          </a:ln>
        </p:spPr>
      </p:sp>
      <p:sp>
        <p:nvSpPr>
          <p:cNvPr id="645" name="Google Shape;645;p56"/>
          <p:cNvSpPr txBox="1"/>
          <p:nvPr>
            <p:ph idx="13" type="body"/>
          </p:nvPr>
        </p:nvSpPr>
        <p:spPr>
          <a:xfrm>
            <a:off x="6850993" y="2301332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6" name="Google Shape;646;p56"/>
          <p:cNvSpPr txBox="1"/>
          <p:nvPr>
            <p:ph idx="14" type="body"/>
          </p:nvPr>
        </p:nvSpPr>
        <p:spPr>
          <a:xfrm>
            <a:off x="6850993" y="4502937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7" name="Google Shape;647;p56"/>
          <p:cNvSpPr txBox="1"/>
          <p:nvPr>
            <p:ph idx="15" type="body"/>
          </p:nvPr>
        </p:nvSpPr>
        <p:spPr>
          <a:xfrm>
            <a:off x="3633935" y="4502937"/>
            <a:ext cx="18780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8" name="Google Shape;648;p56"/>
          <p:cNvSpPr txBox="1"/>
          <p:nvPr>
            <p:ph idx="16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Texte et 1 graphique">
  <p:cSld name="1 Texte et 1 graphique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8"/>
          <p:cNvSpPr/>
          <p:nvPr>
            <p:ph idx="2" type="chart"/>
          </p:nvPr>
        </p:nvSpPr>
        <p:spPr>
          <a:xfrm>
            <a:off x="331772" y="2751138"/>
            <a:ext cx="8488377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6" name="Google Shape;656;p58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7" name="Google Shape;657;p58"/>
          <p:cNvSpPr txBox="1"/>
          <p:nvPr>
            <p:ph idx="3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et 2 graphiques">
  <p:cSld name="Texte et 2 graphiques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/>
          <p:nvPr>
            <p:ph idx="2" type="chart"/>
          </p:nvPr>
        </p:nvSpPr>
        <p:spPr>
          <a:xfrm>
            <a:off x="331773" y="2751138"/>
            <a:ext cx="4131912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0" name="Google Shape;660;p59"/>
          <p:cNvSpPr/>
          <p:nvPr>
            <p:ph idx="3" type="chart"/>
          </p:nvPr>
        </p:nvSpPr>
        <p:spPr>
          <a:xfrm>
            <a:off x="4688238" y="2751138"/>
            <a:ext cx="4131912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1" name="Google Shape;661;p59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2" name="Google Shape;662;p59"/>
          <p:cNvSpPr txBox="1"/>
          <p:nvPr>
            <p:ph idx="4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"/>
          <p:cNvSpPr/>
          <p:nvPr>
            <p:ph idx="2" type="tbl"/>
          </p:nvPr>
        </p:nvSpPr>
        <p:spPr>
          <a:xfrm>
            <a:off x="323850" y="915988"/>
            <a:ext cx="8496300" cy="378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  <a:defRPr b="0" i="0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5" name="Google Shape;665;p6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8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theme" Target="../theme/theme5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" name="Google Shape;11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3;p4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4" name="Google Shape;474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2"/>
    <p:sldLayoutId id="214748368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5" name="Google Shape;495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4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44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2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4" name="Google Shape;614;p5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2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2"/>
    <p:sldLayoutId id="2147483698" r:id="rId3"/>
    <p:sldLayoutId id="2147483699" r:id="rId4"/>
    <p:sldLayoutId id="214748370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7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1" name="Google Shape;651;p5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7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fr-FR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2" r:id="rId2"/>
    <p:sldLayoutId id="2147483703" r:id="rId3"/>
    <p:sldLayoutId id="214748370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ystragroup.sharepoint.com/:x:/r/sites/ComitOprationneldUrbanisation/Documents%20partages/IPO/TEMPLATE/YYYY-MM-Project%20estimate-Template.xlsx?d=w8a0668aa28834fa19768ee08aaf484ea&amp;csf=1&amp;web=1&amp;e=jwjjeo" TargetMode="External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"/>
          <p:cNvSpPr txBox="1"/>
          <p:nvPr>
            <p:ph type="title"/>
          </p:nvPr>
        </p:nvSpPr>
        <p:spPr>
          <a:xfrm>
            <a:off x="360000" y="153523"/>
            <a:ext cx="5955891" cy="397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fr-FR">
                <a:latin typeface="Lato Black"/>
                <a:ea typeface="Lato Black"/>
                <a:cs typeface="Lato Black"/>
                <a:sym typeface="Lato Black"/>
              </a:rPr>
              <a:t>Project review : </a:t>
            </a:r>
            <a:endParaRPr sz="2400"/>
          </a:p>
        </p:txBody>
      </p:sp>
      <p:sp>
        <p:nvSpPr>
          <p:cNvPr id="672" name="Google Shape;672;p1"/>
          <p:cNvSpPr/>
          <p:nvPr/>
        </p:nvSpPr>
        <p:spPr>
          <a:xfrm>
            <a:off x="323850" y="1765293"/>
            <a:ext cx="4176000" cy="892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3" name="Google Shape;673;p1"/>
          <p:cNvSpPr/>
          <p:nvPr/>
        </p:nvSpPr>
        <p:spPr>
          <a:xfrm>
            <a:off x="360000" y="2783851"/>
            <a:ext cx="4139850" cy="1023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" name="Google Shape;674;p1"/>
          <p:cNvSpPr/>
          <p:nvPr/>
        </p:nvSpPr>
        <p:spPr>
          <a:xfrm>
            <a:off x="360000" y="3952921"/>
            <a:ext cx="4176000" cy="906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5" name="Google Shape;675;p1"/>
          <p:cNvSpPr/>
          <p:nvPr/>
        </p:nvSpPr>
        <p:spPr>
          <a:xfrm>
            <a:off x="4696229" y="3807218"/>
            <a:ext cx="4052405" cy="105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BAC : xxx K€ (Dev, Integration, hosting, maintenance, support) 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Actual : xxx K€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 : xxx K€</a:t>
            </a:r>
            <a:endParaRPr/>
          </a:p>
          <a:p>
            <a:pPr indent="-3175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" name="Google Shape;676;p1"/>
          <p:cNvSpPr/>
          <p:nvPr/>
        </p:nvSpPr>
        <p:spPr>
          <a:xfrm>
            <a:off x="4696229" y="791082"/>
            <a:ext cx="4123920" cy="10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Made :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/>
          </a:p>
        </p:txBody>
      </p:sp>
      <p:sp>
        <p:nvSpPr>
          <p:cNvPr id="677" name="Google Shape;677;p1"/>
          <p:cNvSpPr/>
          <p:nvPr/>
        </p:nvSpPr>
        <p:spPr>
          <a:xfrm>
            <a:off x="360000" y="1875532"/>
            <a:ext cx="4139850" cy="68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area: 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Actual nb end users vs target: 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End user profiles: </a:t>
            </a:r>
            <a:endParaRPr/>
          </a:p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See planning for milestones</a:t>
            </a:r>
            <a:endParaRPr/>
          </a:p>
        </p:txBody>
      </p:sp>
      <p:sp>
        <p:nvSpPr>
          <p:cNvPr id="678" name="Google Shape;678;p1"/>
          <p:cNvSpPr/>
          <p:nvPr/>
        </p:nvSpPr>
        <p:spPr>
          <a:xfrm>
            <a:off x="360000" y="795188"/>
            <a:ext cx="4139850" cy="8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/>
          </a:p>
          <a:p>
            <a:pPr indent="-3175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9" name="Google Shape;679;p1"/>
          <p:cNvSpPr/>
          <p:nvPr/>
        </p:nvSpPr>
        <p:spPr>
          <a:xfrm>
            <a:off x="360000" y="4045175"/>
            <a:ext cx="4139850" cy="81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/>
          </a:p>
        </p:txBody>
      </p:sp>
      <p:sp>
        <p:nvSpPr>
          <p:cNvPr id="680" name="Google Shape;680;p1"/>
          <p:cNvSpPr/>
          <p:nvPr/>
        </p:nvSpPr>
        <p:spPr>
          <a:xfrm>
            <a:off x="4696229" y="2089696"/>
            <a:ext cx="4032969" cy="95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/>
          </a:p>
          <a:p>
            <a:pPr indent="-19050" lvl="0" marL="88900" marR="0" rtl="0" algn="l"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1100"/>
              <a:buFont typeface="Noto Sans Symbols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" name="Google Shape;681;p1"/>
          <p:cNvSpPr txBox="1"/>
          <p:nvPr/>
        </p:nvSpPr>
        <p:spPr>
          <a:xfrm>
            <a:off x="8119885" y="73948"/>
            <a:ext cx="975600" cy="324000"/>
          </a:xfrm>
          <a:prstGeom prst="rect">
            <a:avLst/>
          </a:prstGeom>
          <a:solidFill>
            <a:srgbClr val="7898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fr-FR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dd/mm/yy</a:t>
            </a:r>
            <a:endParaRPr b="1" i="0" sz="135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82" name="Google Shape;6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7580" y="3173920"/>
            <a:ext cx="499511" cy="499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5774" y="3173920"/>
            <a:ext cx="499511" cy="499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clipart, symbole, conception&#10;&#10;Description générée automatiquement" id="684" name="Google Shape;68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1875" y="3202049"/>
            <a:ext cx="419132" cy="419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"/>
          <p:cNvSpPr txBox="1"/>
          <p:nvPr>
            <p:ph idx="1" type="body"/>
          </p:nvPr>
        </p:nvSpPr>
        <p:spPr>
          <a:xfrm>
            <a:off x="260782" y="113942"/>
            <a:ext cx="6269413" cy="4454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r>
              <a:rPr lang="fr-FR"/>
              <a:t>Project review:</a:t>
            </a:r>
            <a:endParaRPr/>
          </a:p>
        </p:txBody>
      </p:sp>
      <p:graphicFrame>
        <p:nvGraphicFramePr>
          <p:cNvPr id="690" name="Google Shape;690;p2"/>
          <p:cNvGraphicFramePr/>
          <p:nvPr/>
        </p:nvGraphicFramePr>
        <p:xfrm>
          <a:off x="7960953" y="11459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{93A86659-B62A-4144-99B5-75C40A865BA9}</a:tableStyleId>
              </a:tblPr>
              <a:tblGrid>
                <a:gridCol w="861250"/>
              </a:tblGrid>
              <a:tr h="102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Project delivery progress %</a:t>
                      </a:r>
                      <a:endParaRPr sz="9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/>
                </a:tc>
              </a:tr>
              <a:tr h="125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65%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91" name="Google Shape;691;p2"/>
          <p:cNvSpPr txBox="1"/>
          <p:nvPr/>
        </p:nvSpPr>
        <p:spPr>
          <a:xfrm>
            <a:off x="8119885" y="73948"/>
            <a:ext cx="975600" cy="324000"/>
          </a:xfrm>
          <a:prstGeom prst="rect">
            <a:avLst/>
          </a:prstGeom>
          <a:solidFill>
            <a:srgbClr val="7898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fr-FR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dd/mm/yy</a:t>
            </a:r>
            <a:endParaRPr b="1" i="0" sz="135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2" name="Google Shape;692;p2"/>
          <p:cNvSpPr txBox="1"/>
          <p:nvPr/>
        </p:nvSpPr>
        <p:spPr>
          <a:xfrm>
            <a:off x="0" y="4524150"/>
            <a:ext cx="41406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700" u="sng" cap="none" strike="noStrike">
                <a:solidFill>
                  <a:srgbClr val="0095B6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 the link: Followup budget file</a:t>
            </a:r>
            <a:endParaRPr b="1" sz="700">
              <a:solidFill>
                <a:srgbClr val="0095B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93" name="Google Shape;693;p2"/>
          <p:cNvGrpSpPr/>
          <p:nvPr/>
        </p:nvGrpSpPr>
        <p:grpSpPr>
          <a:xfrm>
            <a:off x="179528" y="1407540"/>
            <a:ext cx="7625848" cy="1991975"/>
            <a:chOff x="179528" y="1299052"/>
            <a:chExt cx="7625848" cy="1991975"/>
          </a:xfrm>
        </p:grpSpPr>
        <p:pic>
          <p:nvPicPr>
            <p:cNvPr id="694" name="Google Shape;69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9528" y="1299052"/>
              <a:ext cx="7625848" cy="1991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2"/>
            <p:cNvSpPr txBox="1"/>
            <p:nvPr/>
          </p:nvSpPr>
          <p:spPr>
            <a:xfrm rot="873531">
              <a:off x="2390399" y="2421709"/>
              <a:ext cx="3967200" cy="300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350">
                  <a:solidFill>
                    <a:srgbClr val="9D1A1E"/>
                  </a:solidFill>
                  <a:latin typeface="Lato"/>
                  <a:ea typeface="Lato"/>
                  <a:cs typeface="Lato"/>
                  <a:sym typeface="Lato"/>
                </a:rPr>
                <a:t>Add the screenshot from the followup budget file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"/>
          <p:cNvSpPr txBox="1"/>
          <p:nvPr>
            <p:ph idx="1" type="body"/>
          </p:nvPr>
        </p:nvSpPr>
        <p:spPr>
          <a:xfrm>
            <a:off x="260340" y="107576"/>
            <a:ext cx="2866237" cy="4521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702" name="Google Shape;702;p3"/>
          <p:cNvSpPr/>
          <p:nvPr/>
        </p:nvSpPr>
        <p:spPr>
          <a:xfrm>
            <a:off x="323850" y="4000505"/>
            <a:ext cx="8495030" cy="892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9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" name="Google Shape;703;p3"/>
          <p:cNvSpPr txBox="1"/>
          <p:nvPr/>
        </p:nvSpPr>
        <p:spPr>
          <a:xfrm>
            <a:off x="8119885" y="73948"/>
            <a:ext cx="975600" cy="324000"/>
          </a:xfrm>
          <a:prstGeom prst="rect">
            <a:avLst/>
          </a:prstGeom>
          <a:solidFill>
            <a:srgbClr val="7898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fr-FR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dd/mm/yy</a:t>
            </a:r>
            <a:endParaRPr b="1" i="0" sz="135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3"/>
          <p:cNvSpPr/>
          <p:nvPr/>
        </p:nvSpPr>
        <p:spPr>
          <a:xfrm>
            <a:off x="323850" y="894588"/>
            <a:ext cx="3039607" cy="232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800"/>
              <a:buFont typeface="Noto Sans Symbols"/>
              <a:buChar char="▪"/>
            </a:pPr>
            <a:r>
              <a:rPr b="0" i="0" lang="fr-FR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Insert planning with timeline (phases, milestones &amp; Go live date)</a:t>
            </a:r>
            <a:endParaRPr/>
          </a:p>
          <a:p>
            <a:pPr indent="-50849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05" name="Google Shape;705;p3"/>
          <p:cNvGraphicFramePr/>
          <p:nvPr/>
        </p:nvGraphicFramePr>
        <p:xfrm>
          <a:off x="323849" y="3845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{93A86659-B62A-4144-99B5-75C40A865BA9}</a:tableStyleId>
              </a:tblPr>
              <a:tblGrid>
                <a:gridCol w="938475"/>
                <a:gridCol w="737500"/>
                <a:gridCol w="838000"/>
                <a:gridCol w="950775"/>
                <a:gridCol w="725200"/>
                <a:gridCol w="838000"/>
                <a:gridCol w="838000"/>
                <a:gridCol w="838000"/>
                <a:gridCol w="838000"/>
                <a:gridCol w="838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Cyber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Infra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Devops</a:t>
                      </a:r>
                      <a:endParaRPr sz="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M365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Solution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MDC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PM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Business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Budget (m/d)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Used (m/d)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/>
                        <a:t>To do (m/d)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uvertur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u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onnes pratiques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ommair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xte et Visuel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xt et graphiqu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Contenu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apitr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2019-01-09T08:27:04Z</dcterms:created>
  <dc:creator>PleEditorial@systragroup.onmicrosoft.com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0x0101005901A0A2E7D60145BB496864AD161E46</vt:lpwstr>
  </property>
  <property fmtid="{D5CDD505-2E9C-101B-9397-08002B2CF9AE}" pid="3" name="AuthorIds_UIVersion_103936">
    <vt:lpwstr>42</vt:lpwstr>
  </property>
  <property fmtid="{D5CDD505-2E9C-101B-9397-08002B2CF9AE}" pid="4" name="MediaServiceImageTags">
    <vt:lpwstr/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